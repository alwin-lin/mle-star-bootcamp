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F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2011680" cy="365760"/>
          </a:xfrm>
          <a:prstGeom prst="rect">
            <a:avLst/>
          </a:prstGeom>
          <a:solidFill>
            <a:srgbClr val="FF5C28"/>
          </a:solidFill>
          <a:ln w="12700">
            <a:solidFill>
              <a:srgbClr val="FF5C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486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600" kern="0" dirty="0">
                <a:solidFill>
                  <a:srgbClr val="0F0F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WEEK 7 OF 8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0058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0" b="1" dirty="0">
                <a:solidFill>
                  <a:srgbClr val="EDEDE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Parts</a:t>
            </a:r>
            <a:endParaRPr lang="en-US" sz="8400" dirty="0"/>
          </a:p>
          <a:p>
            <a:pPr algn="l" indent="0" marL="0">
              <a:buNone/>
            </a:pPr>
            <a:r>
              <a:rPr lang="en-US" sz="8400" b="1" dirty="0">
                <a:solidFill>
                  <a:srgbClr val="EDEDE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 System</a:t>
            </a:r>
            <a:endParaRPr lang="en-US" sz="8400" dirty="0"/>
          </a:p>
        </p:txBody>
      </p:sp>
      <p:sp>
        <p:nvSpPr>
          <p:cNvPr id="5" name="Text 3"/>
          <p:cNvSpPr/>
          <p:nvPr/>
        </p:nvSpPr>
        <p:spPr>
          <a:xfrm>
            <a:off x="548640" y="40233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i="1" dirty="0">
                <a:solidFill>
                  <a:srgbClr val="FF5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4: Integration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466344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8B8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the components. Produce the report. Ship the artifact.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6217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8B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Alwin Lin   ·   MLE-STAR Architecture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F5C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430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have four components.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1A1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They don't talk to each other yet.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834640"/>
            <a:ext cx="260604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D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2834640"/>
            <a:ext cx="2606040" cy="109728"/>
          </a:xfrm>
          <a:prstGeom prst="rect">
            <a:avLst/>
          </a:prstGeom>
          <a:solidFill>
            <a:srgbClr val="B8B8B3"/>
          </a:solidFill>
          <a:ln w="12700">
            <a:solidFill>
              <a:srgbClr val="B8B8B3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8760" y="3337560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411480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B8B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Coder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640080" y="461772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8B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Week 4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337560" y="2834640"/>
            <a:ext cx="260604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D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337560" y="2834640"/>
            <a:ext cx="2606040" cy="109728"/>
          </a:xfrm>
          <a:prstGeom prst="rect">
            <a:avLst/>
          </a:prstGeom>
          <a:solidFill>
            <a:srgbClr val="B8B8B3"/>
          </a:solidFill>
          <a:ln w="12700">
            <a:solidFill>
              <a:srgbClr val="B8B8B3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3337560"/>
            <a:ext cx="640080" cy="6400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29000" y="411480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B8B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Benchmarker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3429000" y="461772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8B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Week 5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126480" y="2834640"/>
            <a:ext cx="260604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DA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126480" y="2834640"/>
            <a:ext cx="2606040" cy="109728"/>
          </a:xfrm>
          <a:prstGeom prst="rect">
            <a:avLst/>
          </a:prstGeom>
          <a:solidFill>
            <a:srgbClr val="B8B8B3"/>
          </a:solidFill>
          <a:ln w="12700">
            <a:solidFill>
              <a:srgbClr val="B8B8B3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3337560"/>
            <a:ext cx="640080" cy="6400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217920" y="411480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B8B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Refiner</a:t>
            </a:r>
            <a:endParaRPr lang="en-US" sz="2000" dirty="0"/>
          </a:p>
        </p:txBody>
      </p:sp>
      <p:sp>
        <p:nvSpPr>
          <p:cNvPr id="18" name="Text 13"/>
          <p:cNvSpPr/>
          <p:nvPr/>
        </p:nvSpPr>
        <p:spPr>
          <a:xfrm>
            <a:off x="6217920" y="461772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8B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Week 6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8915400" y="2834640"/>
            <a:ext cx="260604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DA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915400" y="2834640"/>
            <a:ext cx="2606040" cy="109728"/>
          </a:xfrm>
          <a:prstGeom prst="rect">
            <a:avLst/>
          </a:prstGeom>
          <a:solidFill>
            <a:srgbClr val="FF5C28"/>
          </a:solidFill>
          <a:ln w="12700">
            <a:solidFill>
              <a:srgbClr val="FF5C28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0" y="3337560"/>
            <a:ext cx="640080" cy="64008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006840" y="411480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Integration</a:t>
            </a:r>
            <a:endParaRPr lang="en-US" sz="2000" dirty="0"/>
          </a:p>
        </p:txBody>
      </p:sp>
      <p:sp>
        <p:nvSpPr>
          <p:cNvPr id="23" name="Text 17"/>
          <p:cNvSpPr/>
          <p:nvPr/>
        </p:nvSpPr>
        <p:spPr>
          <a:xfrm>
            <a:off x="9006840" y="461772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5C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Today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548640" y="5486400"/>
            <a:ext cx="11064240" cy="914400"/>
          </a:xfrm>
          <a:prstGeom prst="rect">
            <a:avLst/>
          </a:prstGeom>
          <a:solidFill>
            <a:srgbClr val="1A1A1F"/>
          </a:solidFill>
          <a:ln w="12700">
            <a:solidFill>
              <a:srgbClr val="1A1A1F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777240" y="54864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D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now, to run your pipeline on a problem you set PROBLEM_ID=N, run, then read terminal output. That's not a system. That's three scripts and a human.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F5C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NEW QUESTION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972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A1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does the system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1A1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actually produce?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548640" y="3291840"/>
            <a:ext cx="539496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D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3520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8B8B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UNTIL NOW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38862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Terminal output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77240" y="4480560"/>
            <a:ext cx="5029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8B8B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python orchestrator.py 4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8B8B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Attempt 1: 0.70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8B8B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Attempt 2: 1.00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8B8B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Done.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8B8B85"/>
                </a:solidFill>
              </a:rPr>
              <a:t> 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i="1" dirty="0">
                <a:solidFill>
                  <a:srgbClr val="1A1A1F"/>
                </a:solidFill>
              </a:rPr>
              <a:t>Vanishes when you close the window.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63640" y="3291840"/>
            <a:ext cx="5349240" cy="2926080"/>
          </a:xfrm>
          <a:prstGeom prst="rect">
            <a:avLst/>
          </a:prstGeom>
          <a:solidFill>
            <a:srgbClr val="1A1A1F"/>
          </a:solidFill>
          <a:ln w="12700">
            <a:solidFill>
              <a:srgbClr val="1A1A1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3520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F5C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TODAY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92240" y="38862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DEDE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report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492240" y="4480560"/>
            <a:ext cx="4937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F5C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integration_report.txt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F5C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integration_report.json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EDEDE9"/>
                </a:solidFill>
              </a:rPr>
              <a:t> 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EDEDE9"/>
                </a:solidFill>
              </a:rPr>
              <a:t>A self-contained artifact.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i="1" dirty="0">
                <a:solidFill>
                  <a:srgbClr val="EDEDE9"/>
                </a:solidFill>
              </a:rPr>
              <a:t>Someone could read it without you.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EDEDE9"/>
                </a:solidFill>
              </a:rPr>
              <a:t> 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i="1" dirty="0">
                <a:solidFill>
                  <a:srgbClr val="FF5C28"/>
                </a:solidFill>
              </a:rPr>
              <a:t>That's the deliverable. That's FDE work.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F5C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COMPOSITION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430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Each phase passes a typed result to the next.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377440"/>
            <a:ext cx="24231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D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2377440"/>
            <a:ext cx="73152" cy="1463040"/>
          </a:xfrm>
          <a:prstGeom prst="rect">
            <a:avLst/>
          </a:prstGeom>
          <a:solidFill>
            <a:srgbClr val="FF5C28"/>
          </a:solidFill>
          <a:ln w="12700">
            <a:solidFill>
              <a:srgbClr val="FF5C2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60604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315468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8B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 + score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017520" y="2377440"/>
            <a:ext cx="320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5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3337560" y="2377440"/>
            <a:ext cx="24231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D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37560" y="2377440"/>
            <a:ext cx="73152" cy="1463040"/>
          </a:xfrm>
          <a:prstGeom prst="rect">
            <a:avLst/>
          </a:prstGeom>
          <a:solidFill>
            <a:srgbClr val="FF5C28"/>
          </a:solidFill>
          <a:ln w="12700">
            <a:solidFill>
              <a:srgbClr val="FF5C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66160" y="260604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Decision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566160" y="315468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8B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blocks? yes/no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806440" y="2377440"/>
            <a:ext cx="320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5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6126480" y="2377440"/>
            <a:ext cx="24231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D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26480" y="2377440"/>
            <a:ext cx="73152" cy="1463040"/>
          </a:xfrm>
          <a:prstGeom prst="rect">
            <a:avLst/>
          </a:prstGeom>
          <a:solidFill>
            <a:srgbClr val="FF5C28"/>
          </a:solidFill>
          <a:ln w="12700">
            <a:solidFill>
              <a:srgbClr val="FF5C2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55080" y="260604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Refiner / Retry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355080" y="315468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8B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improved score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595360" y="2377440"/>
            <a:ext cx="320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5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9" name="Shape 17"/>
          <p:cNvSpPr/>
          <p:nvPr/>
        </p:nvSpPr>
        <p:spPr>
          <a:xfrm>
            <a:off x="8915400" y="2377440"/>
            <a:ext cx="24231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D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915400" y="2377440"/>
            <a:ext cx="73152" cy="1463040"/>
          </a:xfrm>
          <a:prstGeom prst="rect">
            <a:avLst/>
          </a:prstGeom>
          <a:solidFill>
            <a:srgbClr val="FF5C28"/>
          </a:solidFill>
          <a:ln w="12700">
            <a:solidFill>
              <a:srgbClr val="FF5C2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0" y="260604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144000" y="315468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8B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one dict per problem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4206240"/>
            <a:ext cx="11064240" cy="2103120"/>
          </a:xfrm>
          <a:prstGeom prst="rect">
            <a:avLst/>
          </a:prstGeom>
          <a:solidFill>
            <a:srgbClr val="1A1A1F"/>
          </a:solidFill>
          <a:ln w="12700">
            <a:solidFill>
              <a:srgbClr val="1A1A1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43891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F5C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COMPOSITION RULE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77240" y="47548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DEDE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Phases don't talk through side effects.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777240" y="53949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8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communicate through return values. That's what makes the system composable. Swap any phase for a better version — the rest still works.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F5C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DELIVERABLE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430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report is what you ship.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11064240" cy="4389120"/>
          </a:xfrm>
          <a:prstGeom prst="rect">
            <a:avLst/>
          </a:prstGeom>
          <a:solidFill>
            <a:srgbClr val="1A1A1F"/>
          </a:solidFill>
          <a:ln w="12700">
            <a:solidFill>
              <a:srgbClr val="1A1A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1945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8B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integration_report.txt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2606040"/>
            <a:ext cx="109728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DED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INTEGRATION REPORT — MLE-STAR Milestone 4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8B8B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Generated: 2026-05-31T08:42:11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8B8B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──────────────────────────────────────────────────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EDED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   Problem                Coder  →  Final     Δ     Phase     Time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EDED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P1   Tram Stops             1.00   →  1.00    0.00   none       18s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5FB9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P5   Frequency Tag          0.70   →  1.00   +0.30   retry      62s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5FB9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P6   First Occurrence       0.80   →  1.00   +0.20   retry      54s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EDED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P7   Log Triage             1.00   →  1.00    0.00   none       21s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5FB9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P9   Brackets Balance       0.67   →  1.00   +0.33   retry      71s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8B8B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──────────────────────────────────────────────────</a:t>
            </a:r>
            <a:endParaRPr lang="en-US" sz="12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5C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Aggregate:        0.83   →   0.97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DED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Problems at 1.00: 8 / 9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DED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Total runtime:    18 min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F5C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PROBLEM 9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Brackets Balance.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B8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bracket matching — with one twist.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1106424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D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606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8B8B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EXAMPLES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301752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"()[]{}"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709160" y="3017520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8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0" y="30175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FB9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263640" y="301752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B8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matched and nested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77240" y="352044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"([)]"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709160" y="3520440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8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0" y="352044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5C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263640" y="352044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B8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closes in wrong order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77240" y="402336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'("hello")'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709160" y="4023360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8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029200" y="402336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FB9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263640" y="402336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B8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parens are real, hello is a string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77240" y="452628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'"((""'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709160" y="4526280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8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029200" y="452628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FB9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263640" y="452628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B8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parens are inside the string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77240" y="502920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'[")"]'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709160" y="5029200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8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029200" y="502920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FB9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263640" y="502920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B8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) is inside quotes — ignored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77240" y="553212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"("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709160" y="5532120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8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029200" y="55321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5C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263640" y="553212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B8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closed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F5C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HANDS-ON   ·   30 MIN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1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the integration.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48640" cy="548640"/>
          </a:xfrm>
          <a:prstGeom prst="ellipse">
            <a:avLst/>
          </a:prstGeom>
          <a:solidFill>
            <a:srgbClr val="FF5C28"/>
          </a:solidFill>
          <a:ln w="12700">
            <a:solidFill>
              <a:srgbClr val="FF5C2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0F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234440" y="192024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Rename files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34440" y="2212848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8B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problem_set_week7.py → problem_set.py   ·   run_cases_week7.py → run_cases.py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633472"/>
            <a:ext cx="548640" cy="548640"/>
          </a:xfrm>
          <a:prstGeom prst="ellipse">
            <a:avLst/>
          </a:prstGeom>
          <a:solidFill>
            <a:srgbClr val="FF5C28"/>
          </a:solidFill>
          <a:ln w="12700">
            <a:solidFill>
              <a:srgbClr val="FF5C2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6334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0F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234440" y="2633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integration_starter.py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34440" y="292608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8B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Coder, Refiner, Retry helpers are already imported. Three TODOs at the bottom.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346704"/>
            <a:ext cx="548640" cy="548640"/>
          </a:xfrm>
          <a:prstGeom prst="ellipse">
            <a:avLst/>
          </a:prstGeom>
          <a:solidFill>
            <a:srgbClr val="FF5C28"/>
          </a:solidFill>
          <a:ln w="12700">
            <a:solidFill>
              <a:srgbClr val="FF5C2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34670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0F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234440" y="3346704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1 — call Coder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34440" y="3639312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8B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 coder(problem_id), print the score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4059936"/>
            <a:ext cx="548640" cy="548640"/>
          </a:xfrm>
          <a:prstGeom prst="ellipse">
            <a:avLst/>
          </a:prstGeom>
          <a:solidFill>
            <a:srgbClr val="FF5C28"/>
          </a:solidFill>
          <a:ln w="12700">
            <a:solidFill>
              <a:srgbClr val="FF5C2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405993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0F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234440" y="4059936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2 — pick the next phase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34440" y="4352544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8B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 BLOCK_MARKER matches. ≥ 2 → refine(...). Otherwise → retry_loop(...)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4773168"/>
            <a:ext cx="548640" cy="548640"/>
          </a:xfrm>
          <a:prstGeom prst="ellipse">
            <a:avLst/>
          </a:prstGeom>
          <a:solidFill>
            <a:srgbClr val="FF5C28"/>
          </a:solidFill>
          <a:ln w="12700">
            <a:solidFill>
              <a:srgbClr val="FF5C2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47731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0F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234440" y="477316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3 — return the result dict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34440" y="5065776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8B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Required fields: problem_id, title, initial_score, final_score, phase_used, duration_seconds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5486400"/>
            <a:ext cx="548640" cy="548640"/>
          </a:xfrm>
          <a:prstGeom prst="ellipse">
            <a:avLst/>
          </a:prstGeom>
          <a:solidFill>
            <a:srgbClr val="FF5C28"/>
          </a:solidFill>
          <a:ln w="12700">
            <a:solidFill>
              <a:srgbClr val="FF5C2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5486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0F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234440" y="548640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234440" y="5779008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8B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integration_starter.py   →   ~15-25 min total. Trust the process.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0F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F5C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DEDE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Let's read the report.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8B8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YOUR aggregate say?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11064240" cy="1188720"/>
          </a:xfrm>
          <a:prstGeom prst="rect">
            <a:avLst/>
          </a:prstGeom>
          <a:solidFill>
            <a:srgbClr val="1A1A1F"/>
          </a:solidFill>
          <a:ln w="12700">
            <a:solidFill>
              <a:srgbClr val="1A1A1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5603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5C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280160" y="2542032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problems did the Coder solve outright?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80160" y="29718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B8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at rows where initial_score = 1.00. Those are the easy wins. Probably 4–6 out of 9.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703320"/>
            <a:ext cx="11064240" cy="1188720"/>
          </a:xfrm>
          <a:prstGeom prst="rect">
            <a:avLst/>
          </a:prstGeom>
          <a:solidFill>
            <a:srgbClr val="1A1A1F"/>
          </a:solidFill>
          <a:ln w="12700">
            <a:solidFill>
              <a:srgbClr val="1A1A1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388620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5C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1280160" y="3867912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problems did the system improve?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80160" y="42976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B8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at rows with +Δ. That's where the Refiner or Retry actually moved the needle. Brackets Balance should be visible here.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5029200"/>
            <a:ext cx="11064240" cy="1188720"/>
          </a:xfrm>
          <a:prstGeom prst="rect">
            <a:avLst/>
          </a:prstGeom>
          <a:solidFill>
            <a:srgbClr val="1A1A1F"/>
          </a:solidFill>
          <a:ln w="12700">
            <a:solidFill>
              <a:srgbClr val="1A1A1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52120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5C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1280160" y="5193792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any problems still below 1.00?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80160" y="56235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B8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Maybe. The integration is honest — it reports what it found, even if it didn't fully fix everything. That's data for Week 8.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F5C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HOMEWORK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430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A1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Author a problem.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1A1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another team.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548640" y="2834640"/>
            <a:ext cx="11064240" cy="1280160"/>
          </a:xfrm>
          <a:prstGeom prst="rect">
            <a:avLst/>
          </a:prstGeom>
          <a:solidFill>
            <a:srgbClr val="1A1A1F"/>
          </a:solidFill>
          <a:ln w="12700">
            <a:solidFill>
              <a:srgbClr val="1A1A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971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F5C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FDE FRAMING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329184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D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an engineer at a customer site. Your job is to specify a problem clearly enough that another team can solve it — without asking you questions.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4343400"/>
            <a:ext cx="54406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D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4343400"/>
            <a:ext cx="73152" cy="914400"/>
          </a:xfrm>
          <a:prstGeom prst="rect">
            <a:avLst/>
          </a:prstGeom>
          <a:solidFill>
            <a:srgbClr val="FF5C28"/>
          </a:solidFill>
          <a:ln w="12700">
            <a:solidFill>
              <a:srgbClr val="FF5C2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4805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Tractable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484632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B8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Gemma 4 should score ≥ 6/10 on attempt 1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72200" y="4343400"/>
            <a:ext cx="54406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D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72200" y="4343400"/>
            <a:ext cx="73152" cy="914400"/>
          </a:xfrm>
          <a:prstGeom prst="rect">
            <a:avLst/>
          </a:prstGeom>
          <a:solidFill>
            <a:srgbClr val="FF5C28"/>
          </a:solidFill>
          <a:ln w="12700">
            <a:solidFill>
              <a:srgbClr val="FF5C2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46520" y="44805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46520" y="484632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B8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 every edge case in the description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5394960"/>
            <a:ext cx="54406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D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5394960"/>
            <a:ext cx="73152" cy="914400"/>
          </a:xfrm>
          <a:prstGeom prst="rect">
            <a:avLst/>
          </a:prstGeom>
          <a:solidFill>
            <a:srgbClr val="FF5C28"/>
          </a:solidFill>
          <a:ln w="12700">
            <a:solidFill>
              <a:srgbClr val="FF5C2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55321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a wrinkle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2960" y="589788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B8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Something the LLM might miss the first time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72200" y="5394960"/>
            <a:ext cx="54406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D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72200" y="5394960"/>
            <a:ext cx="73152" cy="914400"/>
          </a:xfrm>
          <a:prstGeom prst="rect">
            <a:avLst/>
          </a:prstGeom>
          <a:solidFill>
            <a:srgbClr val="FF5C28"/>
          </a:solidFill>
          <a:ln w="12700">
            <a:solidFill>
              <a:srgbClr val="FF5C2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46520" y="55321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it yourself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446520" y="589788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B8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reference solution AND Gemma 4 must work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" y="64922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5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author_a_problem.md for the full guide. Due in 4 days.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0F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F5C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WEEK 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DEDE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rotation.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B8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Posted on the whiteboard. Each team writes for the next team in the cycle.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697480"/>
            <a:ext cx="11064240" cy="2011680"/>
          </a:xfrm>
          <a:prstGeom prst="rect">
            <a:avLst/>
          </a:prstGeom>
          <a:solidFill>
            <a:srgbClr val="1A1A1F"/>
          </a:solidFill>
          <a:ln w="12700">
            <a:solidFill>
              <a:srgbClr val="1A1A1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3291840"/>
            <a:ext cx="1005840" cy="10058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FF5C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32918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1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1920240" y="3291840"/>
            <a:ext cx="1188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5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108960" y="3291840"/>
            <a:ext cx="1005840" cy="10058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FF5C2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08960" y="32918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1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4114800" y="3291840"/>
            <a:ext cx="1188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5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5303520" y="3291840"/>
            <a:ext cx="1005840" cy="10058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FF5C2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0" y="32918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1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6309360" y="3291840"/>
            <a:ext cx="1188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5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7498080" y="3291840"/>
            <a:ext cx="1005840" cy="10058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FF5C2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0" y="32918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1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8503920" y="3291840"/>
            <a:ext cx="1188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5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9692640" y="3291840"/>
            <a:ext cx="1005840" cy="10058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FF5C2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92640" y="32918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1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548640" y="44348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B8B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 → A (cycle closes)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5212080"/>
            <a:ext cx="1828800" cy="0"/>
          </a:xfrm>
          <a:prstGeom prst="line">
            <a:avLst/>
          </a:prstGeom>
          <a:noFill/>
          <a:ln w="25400">
            <a:solidFill>
              <a:srgbClr val="FF5C2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5440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8B8B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 WEEK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8640" y="5760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DEDE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Week 8: Demo prep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48640" y="62179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B8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integration on all 10 problems including the one you received. Then we prepare how you present it.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7 — From Parts to System</dc:title>
  <dc:subject>PptxGenJS Presentation</dc:subject>
  <dc:creator>MLE-STAR Course</dc:creator>
  <cp:lastModifiedBy>MLE-STAR Course</cp:lastModifiedBy>
  <cp:revision>1</cp:revision>
  <dcterms:created xsi:type="dcterms:W3CDTF">2026-05-25T03:59:38Z</dcterms:created>
  <dcterms:modified xsi:type="dcterms:W3CDTF">2026-05-25T03:59:38Z</dcterms:modified>
</cp:coreProperties>
</file>