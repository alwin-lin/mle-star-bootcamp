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668919-A53B-4210-B661-BF87DE4C4102}">
  <a:tblStyle styleId="{81668919-A53B-4210-B661-BF87DE4C41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32.png"/><Relationship Id="rId7" Type="http://schemas.openxmlformats.org/officeDocument/2006/relationships/image" Target="../media/image11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52019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304038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56057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608076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760095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912114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064133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CSEQUITY AI  ·  COMPETITIVE PROGRAMMING TRACK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77240" y="137160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Week 8 — Ship 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Stress-Test Your Pipeline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22960" y="352044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Putting your agentic LLM solver on held-out competitive programming problems — and seeing where it cracks.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22960" y="4754880"/>
            <a:ext cx="914400" cy="384048"/>
          </a:xfrm>
          <a:prstGeom prst="roundRect">
            <a:avLst>
              <a:gd fmla="val 19048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22960" y="475488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874520" y="4754880"/>
            <a:ext cx="914400" cy="384048"/>
          </a:xfrm>
          <a:prstGeom prst="roundRect">
            <a:avLst>
              <a:gd fmla="val 19048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874520" y="475488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926080" y="4754880"/>
            <a:ext cx="914400" cy="384048"/>
          </a:xfrm>
          <a:prstGeom prst="roundRect">
            <a:avLst>
              <a:gd fmla="val 19048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926080" y="475488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977640" y="4754880"/>
            <a:ext cx="914400" cy="384048"/>
          </a:xfrm>
          <a:prstGeom prst="roundRect">
            <a:avLst>
              <a:gd fmla="val 19048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977640" y="475488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22960" y="61264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Final session  ·  live evaluation + project presentations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 built: an agentic solver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22960" y="14630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model never sees the test cases. It gets a problem statement, writes a full program, runs it, reads the verdict, and tries again.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22960" y="2240280"/>
            <a:ext cx="260604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097280" y="2532888"/>
            <a:ext cx="777240" cy="7772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159" y="2707767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274320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E2E8F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97280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Read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97280" y="39776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Statement only — no I/O examples leaked into the prompt.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374136" y="3246120"/>
            <a:ext cx="356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75888" y="2240280"/>
            <a:ext cx="260604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950208" y="2532888"/>
            <a:ext cx="777240" cy="7772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087" y="2707767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596128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E2E8F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950208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950208" y="39776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emits a complete Python program inside a code fence.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227064" y="3246120"/>
            <a:ext cx="356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528816" y="2240280"/>
            <a:ext cx="260604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803136" y="2532888"/>
            <a:ext cx="777240" cy="7772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78015" y="2707767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8449056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E2E8F0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803136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Run vs tests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803136" y="39776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Execute against hidden stdin/stdout cases.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079992" y="3246120"/>
            <a:ext cx="3566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9381744" y="2240280"/>
            <a:ext cx="2606040" cy="28346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9656064" y="2532888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0943" y="2707767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11301984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E2E8F0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656064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Read verdict → retry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9656064" y="39776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 stops the loop; WA/RE/TLE feeds back for another attempt.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539496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retry arrow is the whole point — 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grade is about how well the loop recovers, not first-try luck.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Two jobs this session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22960" y="1600200"/>
            <a:ext cx="5166360" cy="3611880"/>
          </a:xfrm>
          <a:prstGeom prst="rect">
            <a:avLst/>
          </a:prstGeom>
          <a:solidFill>
            <a:srgbClr val="ECFDF5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188720" y="1920240"/>
            <a:ext cx="868680" cy="8686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173" y="2115693"/>
            <a:ext cx="477774" cy="4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2240280" y="1993392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1 · Evaluate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234440" y="301752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 every team's pipeline on the same held-out set.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problem counts only if all hidden cases pass.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Report solve rate + average attempts to first AC.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55080" y="1600200"/>
            <a:ext cx="5166360" cy="3611880"/>
          </a:xfrm>
          <a:prstGeom prst="rect">
            <a:avLst/>
          </a:prstGeom>
          <a:solidFill>
            <a:srgbClr val="EEF0FE"/>
          </a:solidFill>
          <a:ln cap="flat" cmpd="sng" w="1587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720840" y="1920240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6293" y="2115693"/>
            <a:ext cx="477774" cy="4777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7772400" y="1993392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2 · Stress-test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766560" y="301752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Hand out a hard problem live, in class.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Watch the loop work — where does it stall?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Probe failure modes before the presentation.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097280" y="548640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= 1  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same cases for everyone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99432" y="548640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all-or-nothing  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case must pass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101584" y="548640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≤ N  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retries capped, efficiency counts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THE HARNESS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How grading works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22960" y="144475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use LiveBench's coding_generation tasks. Each problem ships with hidden test cases the model never sees.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22960" y="2240280"/>
            <a:ext cx="3337560" cy="1828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097280" y="251460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298" y="2658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1874520" y="25146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Your program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97280" y="33375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extracted from the ```python fence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178808" y="2743200"/>
            <a:ext cx="4206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17720" y="2240280"/>
            <a:ext cx="3337560" cy="1828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892040" y="2514600"/>
            <a:ext cx="640080" cy="6400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6058" y="2658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5669280" y="25146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Feed each case's stdin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892040" y="33375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compare stdout, line by 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973568" y="2743200"/>
            <a:ext cx="4206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412480" y="2240280"/>
            <a:ext cx="3337560" cy="1828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686800" y="2514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0818" y="2658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9464040" y="251460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AC only if every case matches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686800" y="33375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trailing whitespace normalized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22960" y="4617720"/>
            <a:ext cx="10515600" cy="141732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051560" y="48920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5578" y="503605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1920240" y="475488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2400E"/>
                </a:solidFill>
                <a:latin typeface="Trebuchet MS"/>
                <a:ea typeface="Trebuchet MS"/>
                <a:cs typeface="Trebuchet MS"/>
                <a:sym typeface="Trebuchet MS"/>
              </a:rPr>
              <a:t>Two things will bite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920240" y="516636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Trailing spaces &amp; blank lines — </a:t>
            </a:r>
            <a:r>
              <a:rPr b="0" i="0" lang="en-US" sz="13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the checker normalizes per line, but verify yours does too.    </a:t>
            </a:r>
            <a:r>
              <a:rPr b="1" i="0" lang="en-US" sz="13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Multiple valid answers — </a:t>
            </a:r>
            <a:r>
              <a:rPr b="0" i="0" lang="en-US" sz="13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exact-match grading can reject a correct-but-different output.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Trebuchet MS"/>
                <a:ea typeface="Trebuchet MS"/>
                <a:cs typeface="Trebuchet MS"/>
                <a:sym typeface="Trebuchet MS"/>
              </a:rPr>
              <a:t>INSTRUMENTING THE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Make the loop talk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22960" y="144475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verbose pipeline is a teachable pipeline — you and your students can see exactly what changed and why.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22960" y="2331720"/>
            <a:ext cx="4937760" cy="9601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22960" y="2331720"/>
            <a:ext cx="91440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097280" y="244144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Plan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097280" y="28346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line: the approach + rough complexity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22960" y="3474720"/>
            <a:ext cx="4937760" cy="9601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22960" y="3474720"/>
            <a:ext cx="91440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097280" y="358444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Diff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97280" y="39776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changed since the last attempt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22960" y="4617720"/>
            <a:ext cx="4937760" cy="9601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22960" y="4617720"/>
            <a:ext cx="91440" cy="960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097280" y="472744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Verdict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97280" y="51206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 / WA / RE / TLE + which case failed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26480" y="2331720"/>
            <a:ext cx="5212080" cy="34747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355080" y="2542032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565392" y="254203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775704" y="254203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7040880" y="24871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solver.log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400800" y="297180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iter 1 </a:t>
            </a:r>
            <a:r>
              <a:rPr b="1" i="0" lang="en-US" sz="1250" u="none" cap="none" strike="noStrike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plan  </a:t>
            </a:r>
            <a:r>
              <a:rPr b="0" i="0" lang="en-US" sz="125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binary-search the answer · O(n log 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0" y="3538728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iter 1 </a:t>
            </a:r>
            <a:r>
              <a:rPr b="0" i="0" lang="en-US" sz="125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run   </a:t>
            </a:r>
            <a:r>
              <a:rPr b="1" i="0" lang="en-US" sz="12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WA on case 3  (exp 14, got 13)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0" y="410565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iter 2 </a:t>
            </a:r>
            <a:r>
              <a:rPr b="1" i="0" lang="en-US" sz="1250" u="none" cap="none" strike="noStrike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diff  </a:t>
            </a:r>
            <a:r>
              <a:rPr b="0" i="0" lang="en-US" sz="125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fix off-by-one in hi bound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0" y="4672584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iter 2 </a:t>
            </a:r>
            <a:r>
              <a:rPr b="0" i="0" lang="en-US" sz="125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run   </a:t>
            </a:r>
            <a:r>
              <a:rPr b="1" i="0" lang="en-US" sz="125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AC  (12/12 cases)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22960" y="59893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Keep code extraction strict — </a:t>
            </a: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parse only the ```python fence so the chatty prose can't corrupt what gets compiled.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WHY WE FILTERED SOME PROBLEMS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“Bad Juice” lesson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22960" y="144475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sample problem in the set is interactive — and interactive problems quietly break static stdin/stdout grading.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22960" y="2322576"/>
            <a:ext cx="384048" cy="384048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67" y="2380183"/>
            <a:ext cx="268834" cy="26883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1371600" y="22402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Needs a live judge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371600" y="2606040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 N → print groups → flush → read the verdict S → answer. A fixed input string can't play that back.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22960" y="3621024"/>
            <a:ext cx="384048" cy="384048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67" y="3678631"/>
            <a:ext cx="268834" cy="26883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371600" y="35387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Many right answers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371600" y="3904488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Any valid labeling of bottles is optimal; exact-match marks the “wrong” correct answer as WA.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22960" y="4919472"/>
            <a:ext cx="384048" cy="384048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67" y="4977079"/>
            <a:ext cx="268834" cy="26883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1371600" y="483717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stored cases didn’t even agree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371600" y="5202936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Decoding the hidden tests showed answers that don’t match the problem’s own logic.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583680" y="2240280"/>
            <a:ext cx="4754880" cy="36118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6812280" y="2377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the problem is really about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2788920"/>
            <a:ext cx="44805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6812280" y="516636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 = ⌈log₂ N⌉ — elegant and provably minimal, but unobservable from a static I/O pair.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THE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One-line filter, applied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22960" y="144475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 drop interactive problems before week 8. It’s a tiny slice of the set and removes the only landmine.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22960" y="2148840"/>
            <a:ext cx="105156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097280" y="214884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problems = [p</a:t>
            </a:r>
            <a:r>
              <a:rPr b="0" i="0" lang="en-US" sz="1600" u="none" cap="none" strike="noStrike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 for </a:t>
            </a:r>
            <a:r>
              <a:rPr b="0" i="0" lang="en-US" sz="16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p in dataset </a:t>
            </a:r>
            <a:r>
              <a:rPr b="0" i="0" lang="en-US" sz="1600" u="none" cap="none" strike="noStrike">
                <a:solidFill>
                  <a:srgbClr val="6366F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i="0" lang="en-US" sz="16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"interactive problem" not in </a:t>
            </a:r>
            <a:r>
              <a:rPr b="0" i="0" lang="en-US" sz="16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p.statement.lower()]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22960" y="3429000"/>
            <a:ext cx="5166360" cy="2697480"/>
          </a:xfrm>
          <a:prstGeom prst="rect">
            <a:avLst/>
          </a:prstGeom>
          <a:solidFill>
            <a:srgbClr val="ECFDF5"/>
          </a:solidFill>
          <a:ln cap="flat" cmpd="sng" w="1587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143000" y="3657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018" y="3801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/>
          <p:nvPr/>
        </p:nvSpPr>
        <p:spPr>
          <a:xfrm>
            <a:off x="1920240" y="36576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Stays 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188720" y="452628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Standard stdin/stdout problems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Single fixed expected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Math, greedy, DP, graphs, strings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355080" y="3429000"/>
            <a:ext cx="5166360" cy="2697480"/>
          </a:xfrm>
          <a:prstGeom prst="rect">
            <a:avLst/>
          </a:prstGeom>
          <a:solidFill>
            <a:srgbClr val="FEF2F2"/>
          </a:solidFill>
          <a:ln cap="flat" cmpd="sng" w="158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675120" y="365760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9138" y="3801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7452360" y="365760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Filtered 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720840" y="452628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Interactive judges (“Bad Juice” et al.)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Problems with adaptive responses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Anything needing a live two-way protocol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Trebuchet MS"/>
                <a:ea typeface="Trebuchet MS"/>
                <a:cs typeface="Trebuchet MS"/>
                <a:sym typeface="Trebuchet MS"/>
              </a:rPr>
              <a:t>THE LIVE 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Stress-test run of show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822960" y="144475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Cases are handed out in class. Teams have time to make the loop work before presenting.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22960" y="2331720"/>
            <a:ext cx="2606040" cy="26974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1097280" y="2606040"/>
            <a:ext cx="731520" cy="7315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27706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1097280" y="3474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Hand out the case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097280" y="402336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held-out problem for every team.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675888" y="2331720"/>
            <a:ext cx="2606040" cy="26974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950208" y="260604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27706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3950208" y="3474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Let the loop run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950208" y="402336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Teams watch the verbose log, debug 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528816" y="2331720"/>
            <a:ext cx="2606040" cy="26974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803136" y="2606040"/>
            <a:ext cx="731520" cy="7315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7728" y="27706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/>
          <p:nvPr/>
        </p:nvSpPr>
        <p:spPr>
          <a:xfrm>
            <a:off x="6803136" y="3474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Probe the cracks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803136" y="402336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 does it stall — parsing, edge cases, timeouts?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9381744" y="2331720"/>
            <a:ext cx="2606040" cy="26974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9656064" y="26060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0656" y="27706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9656064" y="3474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656064" y="402336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team walks through one AC and one failure.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097280" y="544068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Heads up:  </a:t>
            </a:r>
            <a:r>
              <a:rPr b="0" i="0" lang="en-US" sz="13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handing out the exact cases + a retry loop means a pipeline can learn to print the expected bytes. Hold back one case if you want the score to mean “solved,” not “memorized.”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READING THE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a score actually means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22960" y="1783080"/>
            <a:ext cx="3291840" cy="2788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1097280" y="20116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21762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/>
          <p:nvPr/>
        </p:nvSpPr>
        <p:spPr>
          <a:xfrm>
            <a:off x="1097280" y="28803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Solve 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97280" y="338328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Share of held-out problems that reach AC. The headline number — but only honest on unseen cases.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361688" y="1783080"/>
            <a:ext cx="3291840" cy="2788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636008" y="20116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1762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/>
          <p:nvPr/>
        </p:nvSpPr>
        <p:spPr>
          <a:xfrm>
            <a:off x="4636008" y="28803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Attempts to 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636008" y="338328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fast the loop converges. Fewer iterations = a sharper feedback signal, not just a bigger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7900416" y="1783080"/>
            <a:ext cx="3291840" cy="2788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8174736" y="20116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9328" y="21762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8174736" y="288036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Held-out gap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174736" y="338328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visible-case AC ≫ hidden-case AC, the pipeline is memorizing the trace, not solving.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143000" y="4892040"/>
            <a:ext cx="9875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The takeaway for students:  </a:t>
            </a: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good pipeline isn’t the one that passes the most cases you showed it — it’s the one that recovers on a problem it has never seen.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GRADING THE PRESENTATIONS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Presentation rubric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12"/>
          <p:cNvGraphicFramePr/>
          <p:nvPr/>
        </p:nvGraphicFramePr>
        <p:xfrm>
          <a:off x="82296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{81668919-A53B-4210-B661-BF87DE4C4102}</a:tableStyleId>
              </a:tblPr>
              <a:tblGrid>
                <a:gridCol w="2468875"/>
                <a:gridCol w="6400800"/>
                <a:gridCol w="16459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Criterion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What we look for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Weight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Correctness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Held-out solve rate; honest reporting of failures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5966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30%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Loop design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Sensible retry strategy; uses the verdict to improve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5966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25%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Transparency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Verbose log makes each iteration legible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5966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20%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Failure analysis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Explains one case it couldn’t crack and why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5966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15%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F172A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Communication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Clear, honest, well-paced walkthrough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400"/>
                        <a:buFont typeface="Trebuchet M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59669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10%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12"/>
          <p:cNvSpPr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Weights are a starting point — tune them to what you emphasized across the eight weeks.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WHAT TO WATCH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failure modes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822960" y="1783080"/>
            <a:ext cx="3456432" cy="1965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078992" y="203911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2723" y="217284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1783080" y="2057400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Output formatting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078992" y="274320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Trailing spaces, missing newline, wrong separator — a correct answer marked WA.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535424" y="1783080"/>
            <a:ext cx="3456432" cy="1965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4791456" y="203911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5187" y="217284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/>
          <p:nvPr/>
        </p:nvSpPr>
        <p:spPr>
          <a:xfrm>
            <a:off x="5495544" y="2057400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Timeouts (TLE)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791456" y="274320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Right idea, wrong complexity. The loop must read TLE as “go faster,” not “try again.”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247888" y="1783080"/>
            <a:ext cx="3456432" cy="1965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8503920" y="203911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7651" y="217284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/>
          <p:nvPr/>
        </p:nvSpPr>
        <p:spPr>
          <a:xfrm>
            <a:off x="9208008" y="2057400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Silent crashes (RE)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8503920" y="274320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 cases: empty input, N=1, integer overflow assumptions.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822960" y="4023360"/>
            <a:ext cx="3456432" cy="1965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1078992" y="427939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2723" y="441312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/>
          <p:nvPr/>
        </p:nvSpPr>
        <p:spPr>
          <a:xfrm>
            <a:off x="1783080" y="4297680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Retry stalls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078992" y="498348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fix re-proposed every round. Feed the actual diff + failing case back 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535424" y="4023360"/>
            <a:ext cx="3456432" cy="1965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4791456" y="427939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5187" y="441312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/>
          <p:nvPr/>
        </p:nvSpPr>
        <p:spPr>
          <a:xfrm>
            <a:off x="5495544" y="4297680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Extraction errors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791456" y="498348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Prose leaking into the code block; multiple fences; non-Python output.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247888" y="4023360"/>
            <a:ext cx="3456432" cy="1965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F172A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8503920" y="427939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37651" y="441312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9208008" y="4297680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Overfitting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503920" y="4983480"/>
            <a:ext cx="299923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Memorizing shown cases instead of solving — caught by held-out gap.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Google Shape;301;p14"/>
          <p:cNvCxnSpPr/>
          <p:nvPr/>
        </p:nvCxnSpPr>
        <p:spPr>
          <a:xfrm>
            <a:off x="152019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4"/>
          <p:cNvCxnSpPr/>
          <p:nvPr/>
        </p:nvCxnSpPr>
        <p:spPr>
          <a:xfrm>
            <a:off x="304038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4"/>
          <p:cNvCxnSpPr/>
          <p:nvPr/>
        </p:nvCxnSpPr>
        <p:spPr>
          <a:xfrm>
            <a:off x="456057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4"/>
          <p:cNvCxnSpPr/>
          <p:nvPr/>
        </p:nvCxnSpPr>
        <p:spPr>
          <a:xfrm>
            <a:off x="608076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4"/>
          <p:cNvCxnSpPr/>
          <p:nvPr/>
        </p:nvCxnSpPr>
        <p:spPr>
          <a:xfrm>
            <a:off x="760095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4"/>
          <p:cNvCxnSpPr/>
          <p:nvPr/>
        </p:nvCxnSpPr>
        <p:spPr>
          <a:xfrm>
            <a:off x="912114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14"/>
          <p:cNvCxnSpPr/>
          <p:nvPr/>
        </p:nvCxnSpPr>
        <p:spPr>
          <a:xfrm>
            <a:off x="1064133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4"/>
          <p:cNvSpPr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WRAP-UP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77240" y="12344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 shipped a solver.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Now you can measure it honestly.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22960" y="3246120"/>
            <a:ext cx="3291840" cy="2377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1097280" y="347472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1585" y="36290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4"/>
          <p:cNvSpPr/>
          <p:nvPr/>
        </p:nvSpPr>
        <p:spPr>
          <a:xfrm>
            <a:off x="1097280" y="4251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Today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097280" y="466344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the held-out eval, present one AC and one failure.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361688" y="3246120"/>
            <a:ext cx="3291840" cy="2377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4636008" y="347472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313" y="36290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4"/>
          <p:cNvSpPr/>
          <p:nvPr/>
        </p:nvSpPr>
        <p:spPr>
          <a:xfrm>
            <a:off x="4636008" y="4251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keep going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636008" y="466344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a real interactor and bring interactive problems back.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7900416" y="3246120"/>
            <a:ext cx="3291840" cy="23774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8174736" y="347472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9041" y="36290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/>
          <p:nvPr/>
        </p:nvSpPr>
        <p:spPr>
          <a:xfrm>
            <a:off x="8174736" y="4251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Stretch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8174736" y="466344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Compare two models on the same loop — what does the gap show?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CSEquity AI  ·  Competitive Programming Track  ·  Week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