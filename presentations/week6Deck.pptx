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48640"/>
            <a:ext cx="2011680" cy="36576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548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F0F12"/>
                </a:solidFill>
                <a:latin typeface="Consolas"/>
                <a:ea typeface="Consolas"/>
                <a:cs typeface="Consolas"/>
                <a:sym typeface="Consolas"/>
              </a:rPr>
              <a:t>WEEK 6 OF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280160"/>
            <a:ext cx="10058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8400"/>
              <a:buFont typeface="Georgia"/>
              <a:buNone/>
            </a:pPr>
            <a:r>
              <a:rPr b="1" i="0" lang="en-US" sz="84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The Surgical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8400"/>
              <a:buFont typeface="Georgia"/>
              <a:buNone/>
            </a:pPr>
            <a:r>
              <a:rPr b="1" i="0" lang="en-US" sz="84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Loop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Milestone 3: Refiner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46634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Stop rebuilding the whole thing every time. Profile first. Optimize the hot path.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Alwin Lin   ·   MLE-STAR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RECAP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86868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Five weeks. Three milestones. One pattern.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2286000"/>
            <a:ext cx="20574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48640" y="2286000"/>
            <a:ext cx="2057400" cy="109728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743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640080" y="34290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38862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Week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788920" y="2286000"/>
            <a:ext cx="20574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2788920" y="2286000"/>
            <a:ext cx="2057400" cy="109728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2743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2880360" y="34290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Generate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880360" y="38862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Week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0" y="2286000"/>
            <a:ext cx="20574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29200" y="2286000"/>
            <a:ext cx="2057400" cy="109728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440" y="2743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120640" y="34290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120640" y="38862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Week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269480" y="2286000"/>
            <a:ext cx="20574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269480" y="2286000"/>
            <a:ext cx="2057400" cy="109728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0" y="2743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7360920" y="34290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Benchmark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360920" y="38862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Week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509760" y="2286000"/>
            <a:ext cx="205740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509760" y="2286000"/>
            <a:ext cx="2057400" cy="109728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7000" y="2743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9601200" y="342900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Refine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601200" y="38862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Week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0048" y="31089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910328" y="31089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150608" y="31089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390888" y="31089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14400" y="5074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When the pipeline fails, your current orchestrator throws the whole solution away. Why?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868680"/>
            <a:ext cx="11430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Throwing the whole thing away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is expensive AND lossy.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30175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48640" y="3017520"/>
            <a:ext cx="73152" cy="1828800"/>
          </a:xfrm>
          <a:prstGeom prst="rect">
            <a:avLst/>
          </a:prstGeom>
          <a:solidFill>
            <a:srgbClr val="5FB95F"/>
          </a:solidFill>
          <a:ln cap="flat" cmpd="sng" w="12700">
            <a:solidFill>
              <a:srgbClr val="5FB9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22960" y="3246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95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FB95F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22960" y="42062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Correct logic, working fine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251960" y="30175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251960" y="3017520"/>
            <a:ext cx="73152" cy="1828800"/>
          </a:xfrm>
          <a:prstGeom prst="rect">
            <a:avLst/>
          </a:prstGeom>
          <a:solidFill>
            <a:srgbClr val="5FB95F"/>
          </a:solidFill>
          <a:ln cap="flat" cmpd="sng" w="12700">
            <a:solidFill>
              <a:srgbClr val="5FB9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26280" y="3246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26280" y="3840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95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FB95F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26280" y="42062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Correct logic, working fine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955280" y="30175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955280" y="3017520"/>
            <a:ext cx="73152" cy="182880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229600" y="3246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BUG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229600" y="42062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Returns list instead of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77240" y="5212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Your current pipeline asks for a NEW full solution. The new one might break parse. You go backwards.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THE NEW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Ablation.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Change ONE thing. Measure the effect. Learn what matters.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2468880"/>
            <a:ext cx="1106424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6868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EXPERIMENT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68680" y="3017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Stub each block. See which removal hurts most.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68680" y="3657600"/>
            <a:ext cx="10515600" cy="457200"/>
          </a:xfrm>
          <a:prstGeom prst="rect">
            <a:avLst/>
          </a:prstGeom>
          <a:solidFill>
            <a:srgbClr val="F0F0EB"/>
          </a:solidFill>
          <a:ln cap="flat" cmpd="sng" w="12700">
            <a:solidFill>
              <a:srgbClr val="F0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051560" y="36576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520440" y="36576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B95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FB95F"/>
                </a:solidFill>
                <a:latin typeface="Consolas"/>
                <a:ea typeface="Consolas"/>
                <a:cs typeface="Consolas"/>
                <a:sym typeface="Consolas"/>
              </a:rPr>
              <a:t>1.00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0" y="3657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(full solution scored against all 10 cases)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51560" y="42519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stub parse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20440" y="42519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0.10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663440" y="42519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−0.90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852160" y="4343400"/>
            <a:ext cx="3621024" cy="228600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051560" y="47548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stub 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520440" y="47548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0.40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63440" y="47548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−0.60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852160" y="4846320"/>
            <a:ext cx="2414016" cy="228600"/>
          </a:xfrm>
          <a:prstGeom prst="rect">
            <a:avLst/>
          </a:prstGeom>
          <a:solidFill>
            <a:srgbClr val="B8B8B3"/>
          </a:solidFill>
          <a:ln cap="flat" cmpd="sng" w="12700">
            <a:solidFill>
              <a:srgbClr val="B8B8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051560" y="52578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stub format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520440" y="52578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0.00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663440" y="52578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−1.00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852160" y="5349240"/>
            <a:ext cx="4023360" cy="22860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0332720" y="52578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←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Format hurts most when removed. That's the bottleneck. That's where we iterate.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FOR THE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86868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How the MLE-STAR paper does ablation.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" y="2560320"/>
            <a:ext cx="548640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WHAT THEY 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77240" y="31546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AST-level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77240" y="384048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Parse the abstract syntax tree of the generated Python code. Identify logical components — Pipeline steps, function definitions, hyperparameters. Modify specific nodes programmatically.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A1A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The system understands what the code MEANS, not just what it says.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263640" y="2560320"/>
            <a:ext cx="5349240" cy="384048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492240" y="2788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WHY IT'S HARD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92240" y="31546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Fragile to LLM output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92240" y="384048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An unexpected helper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Slightly different indentation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A misplaced comment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Renamed variables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...any of these can break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Google had a team to maintain the AST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OUR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86868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Block markers. The LLM labels its own components.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2468880"/>
            <a:ext cx="6858000" cy="365760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77240" y="2651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solution.py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77240" y="3017520"/>
            <a:ext cx="65836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def log_triage(log):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    # ── BLOCK: parse ──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sources = []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for line in log.split("\n"):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    sources.append(...)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    # ── BLOCK: count ──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counts = {}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for src in sources: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    counts[src] = counts.get(src, 0) + 1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    # ── BLOCK: format ──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ordered = sorted(counts.items(), ...)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DEDE9"/>
                </a:solidFill>
                <a:latin typeface="Consolas"/>
                <a:ea typeface="Consolas"/>
                <a:cs typeface="Consolas"/>
                <a:sym typeface="Consolas"/>
              </a:rPr>
              <a:t>    return ", ".join(...)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635240" y="2468880"/>
            <a:ext cx="40233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86384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THE REFINER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863840" y="3063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Splits on markers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863840" y="356616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20 lines of Python. The LLM cooperates by labeling. The refiner just splices.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Less rigorous than AST analysis. Almost impossible to break.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8"/>
          <p:cNvCxnSpPr/>
          <p:nvPr/>
        </p:nvCxnSpPr>
        <p:spPr>
          <a:xfrm>
            <a:off x="7863840" y="5212080"/>
            <a:ext cx="3200400" cy="0"/>
          </a:xfrm>
          <a:prstGeom prst="straightConnector1">
            <a:avLst/>
          </a:prstGeom>
          <a:noFill/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8"/>
          <p:cNvSpPr/>
          <p:nvPr/>
        </p:nvSpPr>
        <p:spPr>
          <a:xfrm>
            <a:off x="7863840" y="53492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Same insight. Cheaper to build.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THE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48640" y="868680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Phase A → Phase B → Repeat.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2103120"/>
            <a:ext cx="5394960" cy="420624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48640" y="2103120"/>
            <a:ext cx="5394960" cy="73152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7724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PHASE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777240" y="26974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Ablation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77240" y="34747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1. For each block: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   stub it with `pass`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2. Score the stubbed 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   record the score drop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3. Pick the biggest drop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   → that's the TARGET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989320" y="39319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92240" y="2103120"/>
            <a:ext cx="5120640" cy="420624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492240" y="2103120"/>
            <a:ext cx="5120640" cy="73152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720840" y="2331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PHASE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720840" y="26974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Refinement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720840" y="3474720"/>
            <a:ext cx="480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1. Ask LLM for K=3 variants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   of TARGET block only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2. Splice each variant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   into the current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3. Score each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5C2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5C28"/>
                </a:solidFill>
                <a:latin typeface="Calibri"/>
                <a:ea typeface="Calibri"/>
                <a:cs typeface="Calibri"/>
                <a:sym typeface="Calibri"/>
              </a:rPr>
              <a:t>   keep the best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Then run Phase A again on the improved solution. That's the outer loop.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HONEST LIMITATION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48640" y="86868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Our ablation has a known weakness.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48640" y="2103120"/>
            <a:ext cx="110643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548640" y="2103120"/>
            <a:ext cx="109800" cy="164580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868680" y="2240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THE ISSUE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68680" y="2560320"/>
            <a:ext cx="10515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When you stub a block with `pass`, the variable it was supposed to produce vanishes. The next block crashes. Every block ablation looks equally bad — score drops to 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8640" y="3931920"/>
            <a:ext cx="1106424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48640" y="3931920"/>
            <a:ext cx="109728" cy="1280160"/>
          </a:xfrm>
          <a:prstGeom prst="rect">
            <a:avLst/>
          </a:prstGeom>
          <a:solidFill>
            <a:srgbClr val="5FB95F"/>
          </a:solidFill>
          <a:ln cap="flat" cmpd="sng" w="12700">
            <a:solidFill>
              <a:srgbClr val="5FB9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868680" y="406910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WHAT WE 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68680" y="4297633"/>
            <a:ext cx="10515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When ablation ties, the refiner picks the first block deterministically and refines that. Next round, the next block. We iterate through all blocks across rounds. The Refiner still works.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868680" y="5532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THE PAPER'S 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868680" y="58064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DEDE9"/>
                </a:solidFill>
                <a:latin typeface="Calibri"/>
                <a:ea typeface="Calibri"/>
                <a:cs typeface="Calibri"/>
                <a:sym typeface="Calibri"/>
              </a:rPr>
              <a:t>MLE-STAR replaces components with DEGRADED-BUT-FUNCTIONAL baselines (e.g. 'use median imputing' instead of 'remove imputer entirely'). More rigorous. More code.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TWO NEW PROBLEMS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48640" y="86868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Multi-block solutions to refine 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777240" y="2240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PROBLEM 7   ·  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77240" y="27432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Log Triage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777240" y="33832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Parse server log lines, count events by source, format a summary string. Three blocks in sequence.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777240" y="448056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BLOCKS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263640" y="2194560"/>
            <a:ext cx="548640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6263640" y="2194560"/>
            <a:ext cx="5486400" cy="457200"/>
          </a:xfrm>
          <a:prstGeom prst="rect">
            <a:avLst/>
          </a:prstGeom>
          <a:solidFill>
            <a:srgbClr val="1A1A1F"/>
          </a:solidFill>
          <a:ln cap="flat" cmpd="sng" w="12700">
            <a:solidFill>
              <a:srgbClr val="1A1A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PROBLEM 8   ·   HELPER-HEAVY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92240" y="27432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Robot Walk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92240" y="33832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Robot on a grid follows N/S/E/W commands. Ignore moves that would leave the grid. Two helpers + main loop.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92240" y="448056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BLOCKS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bounds  (helper)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move    (helper)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1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1A1A1F"/>
                </a:solidFill>
                <a:latin typeface="Consolas"/>
                <a:ea typeface="Consolas"/>
                <a:cs typeface="Consolas"/>
                <a:sym typeface="Consolas"/>
              </a:rPr>
              <a:t>walk    (main loop)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HANDS-ON   ·   28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Build the Refiner.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188720" y="20116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Rename files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188720" y="2286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problem_set_week6.py → problem_set.py   ·   run_cases_week6.py → run_cases.py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188720" y="2670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Open refiner_starter.py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188720" y="294436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Three TODOs. Block splitter and ablation are already written for you.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88720" y="3328416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TODO 1 — build_refine_prompt()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188720" y="360273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Build the prompt that asks the LLM to rewrite ONE block. Use diversity hints for variants 1, 2, 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8640" y="3986784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54864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188720" y="398678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TODO 2 — the variant loop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188720" y="4261104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Call LLM → extract code → split_blocks() to find new block → splice into current solution → score → keep best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548640" y="46451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1188720" y="464515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TODO 3 — save the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188720" y="49194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json.dump(result) to refine_log.json — that's your submission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1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0F12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88720" y="5303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188720" y="55778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python refiner_starter.py    →   watch the rounds and variant scores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DEBRIEF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A1A1F"/>
                </a:solidFill>
                <a:latin typeface="Georgia"/>
                <a:ea typeface="Georgia"/>
                <a:cs typeface="Georgia"/>
                <a:sym typeface="Georgia"/>
              </a:rPr>
              <a:t>Three questions.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48640" y="2011680"/>
            <a:ext cx="11064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548640" y="2011680"/>
            <a:ext cx="73152" cy="118872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777240" y="21488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5C2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280160" y="21488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Did your initial solution have blocks?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280160" y="26060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If yes — Gemma 4 followed the marker instruction. If no — prompt engineering exercise: how do you make the LLM emit the format you need?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48640" y="3383280"/>
            <a:ext cx="11064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548640" y="3383280"/>
            <a:ext cx="73152" cy="118872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777240" y="35204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5C2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280160" y="35204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Did ablation pick a clear winner, or did it tie?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280160" y="39776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Honest answer: probably tied. End-to-end test suites stress all blocks equally. The refiner still works — it iterates by round.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548640" y="4754880"/>
            <a:ext cx="73152" cy="1188720"/>
          </a:xfrm>
          <a:prstGeom prst="rect">
            <a:avLst/>
          </a:prstGeom>
          <a:solidFill>
            <a:srgbClr val="FF5C28"/>
          </a:solidFill>
          <a:ln cap="flat" cmpd="sng" w="127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777240" y="48920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5C2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1280160" y="48920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F"/>
                </a:solidFill>
                <a:latin typeface="Calibri"/>
                <a:ea typeface="Calibri"/>
                <a:cs typeface="Calibri"/>
                <a:sym typeface="Calibri"/>
              </a:rPr>
              <a:t>Did any variant improve the score?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280160" y="53492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Maybe not. If the initial solution was already AC, the refiner can't help. The MACHINERY is graded, not the magnitude.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2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5C28"/>
                </a:solidFill>
                <a:latin typeface="Consolas"/>
                <a:ea typeface="Consolas"/>
                <a:cs typeface="Consolas"/>
                <a:sym typeface="Consolas"/>
              </a:rPr>
              <a:t>WEEK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48640" y="164592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Three of four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components built.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28"/>
              </a:buClr>
              <a:buSzPts val="2400"/>
              <a:buFont typeface="Georgia"/>
              <a:buNone/>
            </a:pPr>
            <a:r>
              <a:rPr b="0" i="1" lang="en-US" sz="2400" u="none" cap="none" strike="noStrike">
                <a:solidFill>
                  <a:srgbClr val="FF5C28"/>
                </a:solidFill>
                <a:latin typeface="Georgia"/>
                <a:ea typeface="Georgia"/>
                <a:cs typeface="Georgia"/>
                <a:sym typeface="Georgia"/>
              </a:rPr>
              <a:t>Coder. Benchmarker. Refiner.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4"/>
          <p:cNvCxnSpPr/>
          <p:nvPr/>
        </p:nvCxnSpPr>
        <p:spPr>
          <a:xfrm>
            <a:off x="548640" y="5029200"/>
            <a:ext cx="1828800" cy="0"/>
          </a:xfrm>
          <a:prstGeom prst="straightConnector1">
            <a:avLst/>
          </a:prstGeom>
          <a:noFill/>
          <a:ln cap="flat" cmpd="sng" w="25400">
            <a:solidFill>
              <a:srgbClr val="FF5C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4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8B8B85"/>
                </a:solidFill>
                <a:latin typeface="Consolas"/>
                <a:ea typeface="Consolas"/>
                <a:cs typeface="Consolas"/>
                <a:sym typeface="Consolas"/>
              </a:rPr>
              <a:t>NEXT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EDEDE9"/>
                </a:solidFill>
                <a:latin typeface="Georgia"/>
                <a:ea typeface="Georgia"/>
                <a:cs typeface="Georgia"/>
                <a:sym typeface="Georgia"/>
              </a:rPr>
              <a:t>Milestone 4: Integration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B8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8B85"/>
                </a:solidFill>
                <a:latin typeface="Calibri"/>
                <a:ea typeface="Calibri"/>
                <a:cs typeface="Calibri"/>
                <a:sym typeface="Calibri"/>
              </a:rPr>
              <a:t>Wire the three components into one system. Problem in, benchmarked refined solution 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